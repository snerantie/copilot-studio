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libri"/>
              </a:rPr>
              <a:t>Tools and technologies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Calibri"/>
              </a:rPr>
              <a:t>Manco Capture Agent — what we use and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2F5F9"/>
                </a:solidFill>
                <a:latin typeface="Calibri"/>
              </a:rPr>
              <a:t>One slide per tool: what it is, how this project uses it, licence and tenant status.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1206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2F5F9"/>
                </a:solidFill>
                <a:latin typeface="Calibri"/>
              </a:rPr>
              <a:t>[your name]  ·  25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F4E79"/>
                </a:solidFill>
                <a:latin typeface="Calibri"/>
              </a:rPr>
              <a:t>Tool inventory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All tools in the Manco Capture Agent stack, grouped by vendor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1556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386861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Vendor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Status in our tenant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Used in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86861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Microsoft Outlook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Microsoft 365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Available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Sprint 1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Microsoft Teams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Microsoft 365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Available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Sprint 1 (cards) + Sprint 2 (transcripts)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Adaptive Cards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Microsoft (open spec)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Available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Sprint 1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Microsoft SharePoint Online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Microsoft 365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Available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Sprint 1 (audit) + Sprint 3 (Insights source)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Microsoft Power Automate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Microsoft Power Platform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Available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Sprint 1 + Sprint 2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Power Platform — Environment Variables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Microsoft Power Platform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Pending setup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Sprint 1 (Phase 2)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Microsoft Copilot Studio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Microsoft Power Platform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Limited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Sprints 1, 2 and 3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AI Builder Prompts (disabled in tenant)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Microsoft Power Platform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Blocked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N/A — workaround in place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Atlassian Jira Cloud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Atlassian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Available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Sprint 1 + Sprint 2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Jira REST API + API tokens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Atlassian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Available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Sprint 1</a:t>
                      </a:r>
                    </a:p>
                  </a:txBody>
                  <a:tcPr/>
                </a:tc>
              </a:tr>
              <a:tr h="386861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Jira Plans (Advanced Roadmaps)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Atlassian (Premium/Enterprise feature)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Available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Sprint 1 onwards</a:t>
                      </a:r>
                    </a:p>
                  </a:txBody>
                  <a:tcPr/>
                </a:tc>
              </a:tr>
              <a:tr h="386868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GitHub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GitHub (Microsoft)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Available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Cross-cutting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640080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Manco Capture Agent  ·  25 June 2026  ·  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Microsoft Outlook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Enterprise email and calendar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457200"/>
            <a:ext cx="2743200" cy="365760"/>
          </a:xfrm>
          <a:prstGeom prst="roundRect">
            <a:avLst/>
          </a:prstGeom>
          <a:solidFill>
            <a:srgbClr val="00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Microsoft 365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Role in this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latin typeface="Calibri"/>
              </a:rPr>
              <a:t>• Source of input emails — the trigger for the Capture pipeline.</a:t>
            </a:r>
          </a:p>
          <a:p>
            <a:pPr/>
            <a:r>
              <a:rPr sz="1400">
                <a:latin typeface="Calibri"/>
              </a:rPr>
              <a:t>• Applying the "Capture" category to an email is the explicit user opt-in signal.</a:t>
            </a:r>
          </a:p>
          <a:p>
            <a:pPr/>
            <a:r>
              <a:rPr sz="1400">
                <a:latin typeface="Calibri"/>
              </a:rPr>
              <a:t>• Email body, subject, sender and permalink flow into Power Automate as the source content.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Licence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Included in M365 E3/E5 / Business Standard (already in place).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Status in our tenant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937760"/>
            <a:ext cx="2286000" cy="3657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● 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394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Used in: Sprint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How it connects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Outlook → Power Automate "When a new email arrives (V3)" trigger, filtered by category "Capture".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0080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Manco Capture Agent  ·  25 June 2026  ·  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Microsoft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Hub for chat, channels, and meetings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457200"/>
            <a:ext cx="2743200" cy="365760"/>
          </a:xfrm>
          <a:prstGeom prst="roundRect">
            <a:avLst/>
          </a:prstGeom>
          <a:solidFill>
            <a:srgbClr val="00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Microsoft 365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Role in this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latin typeface="Calibri"/>
              </a:rPr>
              <a:t>• Hosts the existing Manco Team and the new private channel "Capture – Approvals".</a:t>
            </a:r>
          </a:p>
          <a:p>
            <a:pPr/>
            <a:r>
              <a:rPr sz="1400">
                <a:latin typeface="Calibri"/>
              </a:rPr>
              <a:t>• Surface for the Adaptive Card approval UX — every drafted ticket appears here.</a:t>
            </a:r>
          </a:p>
          <a:p>
            <a:pPr/>
            <a:r>
              <a:rPr sz="1400">
                <a:latin typeface="Calibri"/>
              </a:rPr>
              <a:t>• Will be the source for Sprint 2: meeting transcripts as a second capture source.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Licence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Included in M365 (in place).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Status in our tenant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937760"/>
            <a:ext cx="2286000" cy="3657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● 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394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Used in: Sprint 1 (cards) + Sprint 2 (transcripts)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How it connects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Power Automate → Teams "Post adaptive card and wait for a response" action posts into Capture – Approvals.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0080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Manco Capture Agent  ·  25 June 2026  ·  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Adaptive 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JSON-defined cards for Teams and chat surfaces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457200"/>
            <a:ext cx="2743200" cy="365760"/>
          </a:xfrm>
          <a:prstGeom prst="roundRect">
            <a:avLst/>
          </a:prstGeom>
          <a:solidFill>
            <a:srgbClr val="00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Microsoft (open spec)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Role in this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latin typeface="Calibri"/>
              </a:rPr>
              <a:t>• The approval UX inside the Capture – Approvals channel.</a:t>
            </a:r>
          </a:p>
          <a:p>
            <a:pPr/>
            <a:r>
              <a:rPr sz="1400">
                <a:latin typeface="Calibri"/>
              </a:rPr>
              <a:t>• Shows the AI-drafted ticket with editable fields (title, description, Epic, priority, due date) and Approve / Reject actions.</a:t>
            </a:r>
          </a:p>
          <a:p>
            <a:pPr/>
            <a:r>
              <a:rPr sz="1400">
                <a:latin typeface="Calibri"/>
              </a:rPr>
              <a:t>• Approver's choices and edits flow back into Power Automate, driving the Jira create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Licence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Free; built into Teams and Power Automate.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Status in our tenant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937760"/>
            <a:ext cx="2286000" cy="3657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● 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394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Used in: Sprint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How it connects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Card schema defined in `manco-capture/04-adaptive-card-approval.md`. Rendered by Power Automate, hosted in Teams.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0080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Manco Capture Agent  ·  25 June 2026  ·  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Microsoft SharePoint Online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Document libraries, lists, and team sites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457200"/>
            <a:ext cx="2743200" cy="365760"/>
          </a:xfrm>
          <a:prstGeom prst="roundRect">
            <a:avLst/>
          </a:prstGeom>
          <a:solidFill>
            <a:srgbClr val="00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Microsoft 365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Role in this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latin typeface="Calibri"/>
              </a:rPr>
              <a:t>• Manco SharePoint site already hosts Manco documents.</a:t>
            </a:r>
          </a:p>
          <a:p>
            <a:pPr/>
            <a:r>
              <a:rPr sz="1400">
                <a:latin typeface="Calibri"/>
              </a:rPr>
              <a:t>• "Capture Audit" list logs every drafted ticket — pending, approved, rejected, Jira key — for dedup and audit trail.</a:t>
            </a:r>
          </a:p>
          <a:p>
            <a:pPr/>
            <a:r>
              <a:rPr sz="1400">
                <a:latin typeface="Calibri"/>
              </a:rPr>
              <a:t>• Future Sprint 3 (Insights): grounding source for the agent (via Copilot Studio Knowledge, pending upgrade).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Licence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Included in M365 (in place).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Status in our tenant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937760"/>
            <a:ext cx="2286000" cy="3657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● 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394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Used in: Sprint 1 (audit) + Sprint 3 (Insights source)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How it connects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Power Automate "Create item" + "Update item" actions against the Capture Audit list.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0080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Manco Capture Agent  ·  25 June 2026  ·  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Microsoft Power Automate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Low-code workflow automation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457200"/>
            <a:ext cx="2743200" cy="365760"/>
          </a:xfrm>
          <a:prstGeom prst="roundRect">
            <a:avLst/>
          </a:prstGeom>
          <a:solidFill>
            <a:srgbClr val="00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Microsoft Power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Role in this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latin typeface="Calibri"/>
              </a:rPr>
              <a:t>• The orchestrator of the entire Capture pipeline.</a:t>
            </a:r>
          </a:p>
          <a:p>
            <a:pPr/>
            <a:r>
              <a:rPr sz="1400">
                <a:latin typeface="Calibri"/>
              </a:rPr>
              <a:t>• Parent flow: Outlook trigger → call Copilot Studio for extraction → dispatch one child flow per drafted item.</a:t>
            </a:r>
          </a:p>
          <a:p>
            <a:pPr/>
            <a:r>
              <a:rPr sz="1400">
                <a:latin typeface="Calibri"/>
              </a:rPr>
              <a:t>• Child flow: post Adaptive Card → wait for approval → call Jira REST API → update audit row.</a:t>
            </a:r>
          </a:p>
          <a:p>
            <a:pPr/>
            <a:r>
              <a:rPr sz="1400">
                <a:latin typeface="Calibri"/>
              </a:rPr>
              <a:t>• Connects every other tool in the stack via standard connectors.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Licence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Standard connectors are included. Premium connectors (HTTP, Copilot Studio invoke, AI Builder) typically need a Power Automate Premium licence — confirm with admin.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Status in our tenant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937760"/>
            <a:ext cx="2286000" cy="3657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● 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394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Used in: Sprint 1 + Sprint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How it connects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Central — every tool integrates through Power Automate. Two flows defined in build pack files 06 and 07.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0080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Manco Capture Agent  ·  25 June 2026  ·  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Power Platform — Environment Variables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Secure, environment-scoped configuration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457200"/>
            <a:ext cx="2743200" cy="365760"/>
          </a:xfrm>
          <a:prstGeom prst="roundRect">
            <a:avLst/>
          </a:prstGeom>
          <a:solidFill>
            <a:srgbClr val="00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Microsoft Power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Role in this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latin typeface="Calibri"/>
              </a:rPr>
              <a:t>• Stores Jira base URL, auth email, and API token without hardcoding them into flow definitions.</a:t>
            </a:r>
          </a:p>
          <a:p>
            <a:pPr/>
            <a:r>
              <a:rPr sz="1400">
                <a:latin typeface="Calibri"/>
              </a:rPr>
              <a:t>• Token uses the "Secret" type, encrypted at rest, resolved only at flow runtime.</a:t>
            </a:r>
          </a:p>
          <a:p>
            <a:pPr/>
            <a:r>
              <a:rPr sz="1400">
                <a:latin typeface="Calibri"/>
              </a:rPr>
              <a:t>• Lets the same flow promote cleanly across Dev / Test / Prod by overriding values per environment.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Licence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Included with Power Apps / Power Automate. "Secret" type may require Azure Key Vault backing in some tenants.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Status in our tenant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937760"/>
            <a:ext cx="2286000" cy="365760"/>
          </a:xfrm>
          <a:prstGeom prst="round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● Pending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394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Used in: Sprint 1 (Phase 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How it connects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Referenced inside flow actions via the Environment Variable picker. Three variables: manco_JiraBaseUrl, manco_JiraAuthEmail, manco_JiraApiToken (Secret).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0080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Manco Capture Agent  ·  25 June 2026  ·  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Microsoft Copilot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Low-code platform for building AI agents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457200"/>
            <a:ext cx="2743200" cy="365760"/>
          </a:xfrm>
          <a:prstGeom prst="roundRect">
            <a:avLst/>
          </a:prstGeom>
          <a:solidFill>
            <a:srgbClr val="00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Microsoft Power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Role in this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latin typeface="Calibri"/>
              </a:rPr>
              <a:t>• Hosts the "Manco Capture" agent.</a:t>
            </a:r>
          </a:p>
          <a:p>
            <a:pPr/>
            <a:r>
              <a:rPr sz="1400">
                <a:latin typeface="Calibri"/>
              </a:rPr>
              <a:t>• Topic "Extract Action Items" uses a Prompt node to call the LLM and return structured JSON.</a:t>
            </a:r>
          </a:p>
          <a:p>
            <a:pPr/>
            <a:r>
              <a:rPr sz="1400">
                <a:latin typeface="Calibri"/>
              </a:rPr>
              <a:t>• Power Automate invokes the topic with email/transcript content and gets back the list of draftable Jira Tasks.</a:t>
            </a:r>
          </a:p>
          <a:p>
            <a:pPr/>
            <a:r>
              <a:rPr sz="1400">
                <a:latin typeface="Calibri"/>
              </a:rPr>
              <a:t>• Future home of the Reporter (Sprint 2) and Insights (Sprint 3) agents.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Licence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Tenant is on the basic / trial tier. "Tools", "Knowledge" and "Agents" features all show "needs upgrade". See business case.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Status in our tenant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937760"/>
            <a:ext cx="2286000" cy="365760"/>
          </a:xfrm>
          <a:prstGeom prst="roundRect">
            <a:avLst/>
          </a:prstGeom>
          <a:solidFill>
            <a:srgbClr val="E6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● Limited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394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Used in: Sprints 1, 2 and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How it connects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Power Automate calls the agent topic via the Microsoft Copilot Studio connector. Topic returns JSON consumed by the rest of the flow.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0080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Manco Capture Agent  ·  25 June 2026  ·  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AI Builder Prompts (disabled in tenant)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GPT prompts directly invokable from Power Automate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457200"/>
            <a:ext cx="2743200" cy="365760"/>
          </a:xfrm>
          <a:prstGeom prst="roundRect">
            <a:avLst/>
          </a:prstGeom>
          <a:solidFill>
            <a:srgbClr val="0067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Microsoft Power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Role in this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latin typeface="Calibri"/>
              </a:rPr>
              <a:t>• Originally planned as the LLM provider for extraction — would have been called directly from the flow.</a:t>
            </a:r>
          </a:p>
          <a:p>
            <a:pPr/>
            <a:r>
              <a:rPr sz="1400">
                <a:latin typeface="Calibri"/>
              </a:rPr>
              <a:t>• Disabled at the tenant admin policy level ("Prompts have been disabled — please contact your administrator").</a:t>
            </a:r>
          </a:p>
          <a:p>
            <a:pPr/>
            <a:r>
              <a:rPr sz="1400">
                <a:latin typeface="Calibri"/>
              </a:rPr>
              <a:t>• Workaround in use: route the same extraction prompt through Copilot Studio instead.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Licence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Requires AI Builder capacity (separately licensed). Disabled by admin policy in our tenant regardless.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Status in our tenant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937760"/>
            <a:ext cx="2286000" cy="365760"/>
          </a:xfrm>
          <a:prstGeom prst="round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● Blocked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394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Used in: N/A — workaround in place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How it connects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Not used. Parallel admin review requested to enable Prompts under existing governance.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0080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Manco Capture Agent  ·  25 June 2026  ·  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Atlassian Jira Cloud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Issue and project tracking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457200"/>
            <a:ext cx="2743200" cy="36576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Atlassian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Role in this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latin typeface="Calibri"/>
              </a:rPr>
              <a:t>• The target system — every approved Capture results in a new Task here.</a:t>
            </a:r>
          </a:p>
          <a:p>
            <a:pPr/>
            <a:r>
              <a:rPr sz="1400">
                <a:latin typeface="Calibri"/>
              </a:rPr>
              <a:t>• Project key: VFST2 (Enterprise plan, Plans / Advanced Roadmaps enabled).</a:t>
            </a:r>
          </a:p>
          <a:p>
            <a:pPr/>
            <a:r>
              <a:rPr sz="1400">
                <a:latin typeface="Calibri"/>
              </a:rPr>
              <a:t>• Hierarchy: Feature (12) → Epic → Task (the agent creates the Task and parents it to the chosen Epic).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Licence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Jira Cloud Enterprise (in place).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Status in our tenant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937760"/>
            <a:ext cx="2286000" cy="3657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● 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394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Used in: Sprint 1 + Sprint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How it connects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Power Automate HTTP action POSTs to the Jira REST API with Basic auth (email + API token).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0080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Manco Capture Agent  ·  25 June 2026  ·  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Jira REST API + API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HTTPS API for Jira issue operations + personal access tokens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457200"/>
            <a:ext cx="2743200" cy="36576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Atlassian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Role in this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latin typeface="Calibri"/>
              </a:rPr>
              <a:t>• GET /search?jql=... to enumerate Epics under each Feature (drives the Adaptive Card dropdown).</a:t>
            </a:r>
          </a:p>
          <a:p>
            <a:pPr/>
            <a:r>
              <a:rPr sz="1400">
                <a:latin typeface="Calibri"/>
              </a:rPr>
              <a:t>• POST /issue to create the Task, with parent = the chosen Epic.</a:t>
            </a:r>
          </a:p>
          <a:p>
            <a:pPr/>
            <a:r>
              <a:rPr sz="1400">
                <a:latin typeface="Calibri"/>
              </a:rPr>
              <a:t>• GET /user/search to resolve assignee email → accountId before the create call.</a:t>
            </a:r>
          </a:p>
          <a:p>
            <a:pPr/>
            <a:r>
              <a:rPr sz="1400">
                <a:latin typeface="Calibri"/>
              </a:rPr>
              <a:t>• Description sent in Atlassian Document Format (ADF) — required by Jira Cloud.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Licence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Included with Jira Cloud licence; tokens issued from id.atlassian.com (one per user, revocable).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Status in our tenant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937760"/>
            <a:ext cx="2286000" cy="3657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● 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394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Used in: Sprint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How it connects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Token stored in Power Platform Secret env variable. Power Automate HTTP action sends Basic auth header on every call.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0080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Manco Capture Agent  ·  25 June 2026  ·  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Jira Plans (Advanced Roadmaps)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Multi-project planning with cross-project hierarchy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457200"/>
            <a:ext cx="2743200" cy="365760"/>
          </a:xfrm>
          <a:prstGeom prst="round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Atlassian (Premium/Enterprise feature)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Role in this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latin typeface="Calibri"/>
              </a:rPr>
              <a:t>• The Manco Board lives in Plans — that's how the 12 Features roll up.</a:t>
            </a:r>
          </a:p>
          <a:p>
            <a:pPr/>
            <a:r>
              <a:rPr sz="1400">
                <a:latin typeface="Calibri"/>
              </a:rPr>
              <a:t>• Custom hierarchy level "Feature" sits above Epic, available only on Premium/Enterprise plans.</a:t>
            </a:r>
          </a:p>
          <a:p>
            <a:pPr/>
            <a:r>
              <a:rPr sz="1400">
                <a:latin typeface="Calibri"/>
              </a:rPr>
              <a:t>• Approver picks one of the existing Epics on the Adaptive Card; the Task is parented to it, which automatically rolls up to the right Feature.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Licence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Jira Cloud Premium or Enterprise (we are on Enterprise — in place).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Status in our tenant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937760"/>
            <a:ext cx="2286000" cy="3657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● 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394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Used in: Sprint 1 onwards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How it connects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We do not call a Plans-specific API. Standard issue-create with parent = Epic key is sufficient; Plans handles roll-up.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0080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Manco Capture Agent  ·  25 June 2026  ·  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Calibri"/>
              </a:rPr>
              <a:t>GitHub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Source control for the build pack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0" y="457200"/>
            <a:ext cx="2743200" cy="365760"/>
          </a:xfrm>
          <a:prstGeom prst="roundRect">
            <a:avLst/>
          </a:prstGeom>
          <a:solidFill>
            <a:srgbClr val="24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GitHub (Microsoft)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Calibri"/>
              </a:rPr>
              <a:t>Role in this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09728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400">
                <a:latin typeface="Calibri"/>
              </a:rPr>
              <a:t>• Repository: snerantie/Copilot-Studio.</a:t>
            </a:r>
          </a:p>
          <a:p>
            <a:pPr/>
            <a:r>
              <a:rPr sz="1400">
                <a:latin typeface="Calibri"/>
              </a:rPr>
              <a:t>• Branch feat/manco-capture-sprint1 + PR #1 holds the entire design, build artefacts and manager docs.</a:t>
            </a:r>
          </a:p>
          <a:p>
            <a:pPr/>
            <a:r>
              <a:rPr sz="1400">
                <a:latin typeface="Calibri"/>
              </a:rPr>
              <a:t>• Subfolder manco-capture/for-manager/ contains the business case, status doc, this deck, and the generator script.</a:t>
            </a:r>
          </a:p>
          <a:p>
            <a:pPr/>
            <a:r>
              <a:rPr sz="1400">
                <a:latin typeface="Calibri"/>
              </a:rPr>
              <a:t>• Lets the design + decisions be reviewed, versioned, and shared without IDE access.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Licence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9377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  <a:latin typeface="Calibri"/>
              </a:rPr>
              <a:t>Personal / business GitHub account.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Status in our tenant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4937760"/>
            <a:ext cx="2286000" cy="36576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● Available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3949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95959"/>
                </a:solidFill>
                <a:latin typeface="Calibri"/>
              </a:rPr>
              <a:t>Used in: Cross-cutting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Calibri"/>
              </a:rPr>
              <a:t>How it connects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  <a:latin typeface="Calibri"/>
              </a:rPr>
              <a:t>Authoring agent (Kiro) edits files → commits → pushes to remote → PR view in browser.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0080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Manco Capture Agent  ·  25 June 2026  ·  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1F4E79"/>
                </a:solidFill>
                <a:latin typeface="Calibri"/>
              </a:rPr>
              <a:t>How they connect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95959"/>
                </a:solidFill>
                <a:latin typeface="Calibri"/>
              </a:rPr>
              <a:t>The Manco Capture Agent end-to-end data flow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1556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5080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What happens (which tools are involved)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1.  Source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Microsoft Outlook (email categorised "Capture")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2.  Trigger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Power Automate parent flow fires on the new category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3.  LLM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Power Automate calls Microsoft Copilot Studio agent topic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    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→ Topic uses a Prompt node, returns structured JSON of action items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4.  Audit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Power Automate writes "Pending" row to SharePoint "Capture Audit" list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5.  Approval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Power Automate child flow posts Adaptive Card in Teams (Capture – Approvals channel) and waits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6.  Create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On Approve, Power Automate calls Jira REST API to create the Task, parented to the chosen Epic in VFST2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7.  Confirm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latin typeface="Calibri"/>
                        </a:rPr>
                        <a:t>Adaptive Card updated with the new Jira key; SharePoint audit row updated with key + approver + timestamp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21792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95959"/>
                </a:solidFill>
                <a:latin typeface="Calibri"/>
              </a:rPr>
              <a:t>Reference: build pack at github.com/snerantie/Copilot-Studio · manco-capture/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00800"/>
            <a:ext cx="1188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95959"/>
                </a:solidFill>
                <a:latin typeface="Calibri"/>
              </a:rPr>
              <a:t>Manco Capture Agent  ·  25 June 2026  ·  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