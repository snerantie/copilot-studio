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9456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Calibri"/>
              </a:rPr>
              <a:t>Manco Capture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3832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Calibri"/>
              </a:rPr>
              <a:t>Business case for Copilot Studio capability upgrade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2F5F9"/>
                </a:solidFill>
                <a:latin typeface="Calibri"/>
              </a:rPr>
              <a:t>[your name]    ·    25 June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2F5F9"/>
                </a:solidFill>
                <a:latin typeface="Calibri"/>
              </a:rPr>
              <a:t>For [your manager] — review and decision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1F4E79"/>
                </a:solidFill>
                <a:latin typeface="Calibri"/>
              </a:rPr>
              <a:t>TL;DR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>
                <a:latin typeface="Calibri"/>
              </a:rPr>
              <a:t>• Building an AI agent for the CIO and senior management team that automates capture, reporting and analysis of work on the Manco Board (Jira VFST2).</a:t>
            </a:r>
          </a:p>
          <a:p>
            <a:pPr/>
            <a:r>
              <a:rPr sz="1800">
                <a:latin typeface="Calibri"/>
              </a:rPr>
              <a:t>• Sprint 1 (capture: email → Jira Task via Teams approval) is approximately 60% built and on track.</a:t>
            </a:r>
          </a:p>
          <a:p>
            <a:pPr/>
            <a:r>
              <a:rPr sz="1800">
                <a:latin typeface="Calibri"/>
              </a:rPr>
              <a:t>• Hit a Microsoft Copilot Studio licence ceiling — Tools, Knowledge, and Agents features all show "needs upgrade" in our tenant.</a:t>
            </a:r>
          </a:p>
          <a:p>
            <a:pPr/>
            <a:r>
              <a:rPr sz="1800">
                <a:latin typeface="Calibri"/>
              </a:rPr>
              <a:t>• Requested decision:</a:t>
            </a:r>
          </a:p>
          <a:p>
            <a:pPr lvl="1"/>
            <a:r>
              <a:rPr sz="1800">
                <a:latin typeface="Calibri"/>
              </a:rPr>
              <a:t>– Approve the Copilot Studio capability upgrade.</a:t>
            </a:r>
          </a:p>
          <a:p>
            <a:pPr lvl="1"/>
            <a:r>
              <a:rPr sz="1800">
                <a:latin typeface="Calibri"/>
              </a:rPr>
              <a:t>– Approve a parallel admin policy review to enable AI Builder Prompts.</a:t>
            </a:r>
          </a:p>
          <a:p>
            <a:pPr/>
            <a:r>
              <a:rPr sz="1800">
                <a:latin typeface="Calibri"/>
              </a:rPr>
              <a:t>• Indicative cost: ~£330–£500 / month all-in for Sprints 1 + 2 capacity (Microsoft list pricing — confirm with M365 procurement).</a:t>
            </a:r>
          </a:p>
          <a:p>
            <a:pPr/>
            <a:r>
              <a:rPr sz="1800">
                <a:latin typeface="Calibri"/>
              </a:rPr>
              <a:t>• Indicative payback: under 3 months at 1 hour saved per senior leader per week.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0"/>
            <a:ext cx="1188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95959"/>
                </a:solidFill>
                <a:latin typeface="Calibri"/>
              </a:rPr>
              <a:t>Manco Capture Agent  ·  25 June 2026  ·  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F4E79"/>
                </a:solidFill>
                <a:latin typeface="Calibri"/>
              </a:rPr>
              <a:t>What we're building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595959"/>
                </a:solidFill>
                <a:latin typeface="Calibri"/>
              </a:rPr>
              <a:t>Three-pillar AI capability for senior management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45920"/>
          <a:ext cx="112471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9144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Pillar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100">
                          <a:latin typeface="Calibri"/>
                        </a:rPr>
                        <a:t>1. Capture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latin typeface="Calibri"/>
                        </a:rPr>
                        <a:t>Turns emails and Teams meeting transcripts into properly-filed Jira Tasks on the Manco Board, with human approval in Teams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latin typeface="Calibri"/>
                        </a:rPr>
                        <a:t>Sprint 1 — in build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100">
                          <a:latin typeface="Calibri"/>
                        </a:rPr>
                        <a:t>2. Reporter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latin typeface="Calibri"/>
                        </a:rPr>
                        <a:t>Conversational Q&amp;A and scheduled digests over Manco Board status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latin typeface="Calibri"/>
                        </a:rPr>
                        <a:t>Sprint 2 — designed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100">
                          <a:latin typeface="Calibri"/>
                        </a:rPr>
                        <a:t>3. Insights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latin typeface="Calibri"/>
                        </a:rPr>
                        <a:t>Cross-source analysis of Jira + Manco SharePoint to surface risks, themes, decisions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latin typeface="Calibri"/>
                        </a:rPr>
                        <a:t>Sprint 3 — designed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7607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95959"/>
                </a:solidFill>
                <a:latin typeface="Calibri"/>
              </a:rPr>
              <a:t>All three pillars target the same audience, use the same Microsoft + Atlassian stack we already pay for, and reuse the same foundations being put in place now.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00800"/>
            <a:ext cx="1188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95959"/>
                </a:solidFill>
                <a:latin typeface="Calibri"/>
              </a:rPr>
              <a:t>Manco Capture Agent  ·  25 June 2026  ·  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F4E79"/>
                </a:solidFill>
                <a:latin typeface="Calibri"/>
              </a:rPr>
              <a:t>Why it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>
                <a:latin typeface="Calibri"/>
              </a:rPr>
              <a:t>• Action items currently fall through the cracks — emails, chats, leadership meetings tracked manually if at all.</a:t>
            </a:r>
          </a:p>
          <a:p>
            <a:pPr/>
            <a:r>
              <a:rPr sz="2000">
                <a:latin typeface="Calibri"/>
              </a:rPr>
              <a:t>• Leadership time is the scarcest resource — the CIO and senior team should be reviewing and deciding, not triaging Jira.</a:t>
            </a:r>
          </a:p>
          <a:p>
            <a:pPr/>
            <a:r>
              <a:rPr sz="2000">
                <a:latin typeface="Calibri"/>
              </a:rPr>
              <a:t>• Reporting is a known pain point — Manco status decks assembled by hand before every meeting.</a:t>
            </a:r>
          </a:p>
          <a:p>
            <a:pPr/>
            <a:r>
              <a:rPr sz="2000">
                <a:latin typeface="Calibri"/>
              </a:rPr>
              <a:t>• Insights are invisible today — trends, risks and decisions sit unseen across Jira and SharePoint.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0"/>
            <a:ext cx="1188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95959"/>
                </a:solidFill>
                <a:latin typeface="Calibri"/>
              </a:rPr>
              <a:t>Manco Capture Agent  ·  25 June 2026  ·  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F4E79"/>
                </a:solidFill>
                <a:latin typeface="Calibri"/>
              </a:rPr>
              <a:t>Progress to date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595959"/>
                </a:solidFill>
                <a:latin typeface="Calibri"/>
              </a:rPr>
              <a:t>Sprint 1 ~60% complete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>
                <a:latin typeface="Calibri"/>
              </a:rPr>
              <a:t>• Design + build artefacts version-controlled in GitHub (manco-capture/, 12 files, ~1,200 lines).</a:t>
            </a:r>
          </a:p>
          <a:p>
            <a:pPr/>
            <a:r>
              <a:rPr sz="1800">
                <a:latin typeface="Calibri"/>
              </a:rPr>
              <a:t>• Provisioning DONE: Teams approval channel, SharePoint audit list, Jira API token, Outlook trigger category.</a:t>
            </a:r>
          </a:p>
          <a:p>
            <a:pPr/>
            <a:r>
              <a:rPr sz="1800">
                <a:latin typeface="Calibri"/>
              </a:rPr>
              <a:t>• Extraction proof-of-concept tested in Copilot Studio.</a:t>
            </a:r>
          </a:p>
          <a:p>
            <a:pPr/>
            <a:r>
              <a:rPr sz="1800">
                <a:latin typeface="Calibri"/>
              </a:rPr>
              <a:t>• Pending: LLM extraction wiring (currently blocked), Power Automate flows, end-to-end test.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00800"/>
            <a:ext cx="1188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95959"/>
                </a:solidFill>
                <a:latin typeface="Calibri"/>
              </a:rPr>
              <a:t>Manco Capture Agent  ·  25 June 2026  ·  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62828"/>
                </a:solidFill>
                <a:latin typeface="Calibri"/>
              </a:rPr>
              <a:t>The blocker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95959"/>
                </a:solidFill>
                <a:latin typeface="Calibri"/>
              </a:rPr>
              <a:t>Our Copilot Studio licence is at the basic / trial tier. Three features show "needs upgrade" in our tenant.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28800"/>
          <a:ext cx="112471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9144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Why we need it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100">
                          <a:latin typeface="Calibri"/>
                        </a:rPr>
                        <a:t>Tools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latin typeface="Calibri"/>
                        </a:rPr>
                        <a:t>Exposes an LLM prompt as a clean, callable object Power Automate can invoke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latin typeface="Calibri"/>
                        </a:rPr>
                        <a:t>Textbook integration pattern; without it we use a workaround that's harder to maintain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100">
                          <a:latin typeface="Calibri"/>
                        </a:rPr>
                        <a:t>Knowledge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latin typeface="Calibri"/>
                        </a:rPr>
                        <a:t>Grounds the agent in trusted content (SharePoint docs)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latin typeface="Calibri"/>
                        </a:rPr>
                        <a:t>Critical for Pillar 3 — without it Insights cannot reason over Manco SharePoint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100">
                          <a:latin typeface="Calibri"/>
                        </a:rPr>
                        <a:t>Agents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latin typeface="Calibri"/>
                        </a:rPr>
                        <a:t>Separate specialised agents under one orchestrator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latin typeface="Calibri"/>
                        </a:rPr>
                        <a:t>Critical for Pillars 2 &amp; 3 — without it everything collapses into a single overloaded agent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95959"/>
                </a:solidFill>
                <a:latin typeface="Calibri"/>
              </a:rPr>
              <a:t>Separately: AI Builder Prompts disabled at tenant admin level (different governance decision, in the same family).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00800"/>
            <a:ext cx="1188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95959"/>
                </a:solidFill>
                <a:latin typeface="Calibri"/>
              </a:rPr>
              <a:t>Manco Capture Agent  ·  25 June 2026  ·  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F4E79"/>
                </a:solidFill>
                <a:latin typeface="Calibri"/>
              </a:rPr>
              <a:t>What an upgrade unlocks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62865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Outcome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Without upgrade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With upgrade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628650">
                <a:tc>
                  <a:txBody>
                    <a:bodyPr wrap="square"/>
                    <a:lstStyle/>
                    <a:p>
                      <a:r>
                        <a:rPr sz="1100">
                          <a:latin typeface="Calibri"/>
                        </a:rPr>
                        <a:t>LLM extraction works (Sprint 1)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latin typeface="Calibri"/>
                        </a:rPr>
                        <a:t>Yes — via Topics workaround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latin typeface="Calibri"/>
                        </a:rPr>
                        <a:t>Yes — via Tools (cleaner)</a:t>
                      </a:r>
                    </a:p>
                  </a:txBody>
                  <a:tcPr/>
                </a:tc>
              </a:tr>
              <a:tr h="628650">
                <a:tc>
                  <a:txBody>
                    <a:bodyPr wrap="square"/>
                    <a:lstStyle/>
                    <a:p>
                      <a:r>
                        <a:rPr sz="1100">
                          <a:latin typeface="Calibri"/>
                        </a:rPr>
                        <a:t>Power Automate integration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latin typeface="Calibri"/>
                        </a:rPr>
                        <a:t>Bespoke Topics glue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latin typeface="Calibri"/>
                        </a:rPr>
                        <a:t>Native Tool invocation</a:t>
                      </a:r>
                    </a:p>
                  </a:txBody>
                  <a:tcPr/>
                </a:tc>
              </a:tr>
              <a:tr h="628650">
                <a:tc>
                  <a:txBody>
                    <a:bodyPr wrap="square"/>
                    <a:lstStyle/>
                    <a:p>
                      <a:r>
                        <a:rPr sz="1100">
                          <a:latin typeface="Calibri"/>
                        </a:rPr>
                        <a:t>Time to build Sprint 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latin typeface="Calibri"/>
                        </a:rPr>
                        <a:t>~2 working days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latin typeface="Calibri"/>
                        </a:rPr>
                        <a:t>~1 working day</a:t>
                      </a:r>
                    </a:p>
                  </a:txBody>
                  <a:tcPr/>
                </a:tc>
              </a:tr>
              <a:tr h="628650">
                <a:tc>
                  <a:txBody>
                    <a:bodyPr wrap="square"/>
                    <a:lstStyle/>
                    <a:p>
                      <a:r>
                        <a:rPr sz="1100">
                          <a:latin typeface="Calibri"/>
                        </a:rPr>
                        <a:t>Reporter agent (Sprint 2)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latin typeface="Calibri"/>
                        </a:rPr>
                        <a:t>Single overloaded agent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latin typeface="Calibri"/>
                        </a:rPr>
                        <a:t>Dedicated agent with clear scope</a:t>
                      </a:r>
                    </a:p>
                  </a:txBody>
                  <a:tcPr/>
                </a:tc>
              </a:tr>
              <a:tr h="628650">
                <a:tc>
                  <a:txBody>
                    <a:bodyPr wrap="square"/>
                    <a:lstStyle/>
                    <a:p>
                      <a:r>
                        <a:rPr sz="1100">
                          <a:latin typeface="Calibri"/>
                        </a:rPr>
                        <a:t>Insights vs SharePoint (Sprint 3)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latin typeface="Calibri"/>
                        </a:rPr>
                        <a:t>Blocked — no Knowledge feature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latin typeface="Calibri"/>
                        </a:rPr>
                        <a:t>Native RAG against Manco SharePoint</a:t>
                      </a:r>
                    </a:p>
                  </a:txBody>
                  <a:tcPr/>
                </a:tc>
              </a:tr>
              <a:tr h="628650">
                <a:tc>
                  <a:txBody>
                    <a:bodyPr wrap="square"/>
                    <a:lstStyle/>
                    <a:p>
                      <a:r>
                        <a:rPr sz="1100">
                          <a:latin typeface="Calibri"/>
                        </a:rPr>
                        <a:t>Adding new agents over time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latin typeface="Calibri"/>
                        </a:rPr>
                        <a:t>Inflates the single agent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latin typeface="Calibri"/>
                        </a:rPr>
                        <a:t>Add as separate specialised agents</a:t>
                      </a:r>
                    </a:p>
                  </a:txBody>
                  <a:tcPr/>
                </a:tc>
              </a:tr>
              <a:tr h="628650">
                <a:tc>
                  <a:txBody>
                    <a:bodyPr wrap="square"/>
                    <a:lstStyle/>
                    <a:p>
                      <a:r>
                        <a:rPr sz="1100">
                          <a:latin typeface="Calibri"/>
                        </a:rPr>
                        <a:t>Vendor lock-in risk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latin typeface="Calibri"/>
                        </a:rPr>
                        <a:t>Higher — workarounds become debt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latin typeface="Calibri"/>
                        </a:rPr>
                        <a:t>Lower — using supported features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274320" y="6400800"/>
            <a:ext cx="1188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95959"/>
                </a:solidFill>
                <a:latin typeface="Calibri"/>
              </a:rPr>
              <a:t>Manco Capture Agent  ·  25 June 2026  ·  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F4E79"/>
                </a:solidFill>
                <a:latin typeface="Calibri"/>
              </a:rPr>
              <a:t>Cost framing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95959"/>
                </a:solidFill>
                <a:latin typeface="Calibri"/>
              </a:rPr>
              <a:t>Microsoft list pricing — confirm with M365 procurement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2471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Indicative cost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>
                          <a:latin typeface="Calibri"/>
                        </a:rPr>
                        <a:t>Microsoft Copilot Studio (per-user)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latin typeface="Calibri"/>
                        </a:rPr>
                        <a:t>~£164 / user / month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>
                          <a:latin typeface="Calibri"/>
                        </a:rPr>
                        <a:t>Microsoft Copilot Studio (pay-as-you-go messages)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latin typeface="Calibri"/>
                        </a:rPr>
                        <a:t>from ~£0.008 / message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>
                          <a:latin typeface="Calibri"/>
                        </a:rPr>
                        <a:t>AI Builder add-on capacity (if Prompts enabled later)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latin typeface="Calibri"/>
                        </a:rPr>
                        <a:t>from ~£400 / tenant / month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>
                          <a:latin typeface="Calibri"/>
                        </a:rPr>
                        <a:t>M365 Copilot licence (separate, if not already held)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latin typeface="Calibri"/>
                        </a:rPr>
                        <a:t>~£25 / user / month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2062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F4E79"/>
                </a:solidFill>
                <a:latin typeface="Calibri"/>
              </a:rPr>
              <a:t>Realistic scoped cost: ~£330–£500 / month all-in for Sprints 1 + 2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>
                <a:latin typeface="Calibri"/>
              </a:rPr>
              <a:t>• 2 builder/admin seats (you + manager) on full Copilot Studio.</a:t>
            </a:r>
          </a:p>
          <a:p>
            <a:pPr/>
            <a:r>
              <a:rPr sz="1500">
                <a:latin typeface="Calibri"/>
              </a:rPr>
              <a:t>• Plus modest pay-as-you-go capacity for runtime usage.</a:t>
            </a:r>
          </a:p>
          <a:p>
            <a:pPr/>
            <a:r>
              <a:rPr sz="1500">
                <a:latin typeface="Calibri"/>
              </a:rPr>
              <a:t>• Payback: even 1 hour / week / senior leader saved covers the licence many times over within the quarter.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1188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95959"/>
                </a:solidFill>
                <a:latin typeface="Calibri"/>
              </a:rPr>
              <a:t>Manco Capture Agent  ·  25 June 2026  ·  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F4E79"/>
                </a:solidFill>
                <a:latin typeface="Calibri"/>
              </a:rPr>
              <a:t>Options considered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10058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Pros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Cons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Recommended?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1005840">
                <a:tc>
                  <a:txBody>
                    <a:bodyPr wrap="square"/>
                    <a:lstStyle/>
                    <a:p>
                      <a:r>
                        <a:rPr sz="1100">
                          <a:latin typeface="Calibri"/>
                        </a:rPr>
                        <a:t>A. Do nothing — stay on basic tier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latin typeface="Calibri"/>
                        </a:rPr>
                        <a:t>Zero cost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latin typeface="Calibri"/>
                        </a:rPr>
                        <a:t>Sprints 2 &amp; 3 effectively blocked; Sprint 1 brittle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latin typeface="Calibri"/>
                        </a:rPr>
                        <a:t>No</a:t>
                      </a:r>
                    </a:p>
                  </a:txBody>
                  <a:tcPr/>
                </a:tc>
              </a:tr>
              <a:tr h="1005840">
                <a:tc>
                  <a:txBody>
                    <a:bodyPr wrap="square"/>
                    <a:lstStyle/>
                    <a:p>
                      <a:r>
                        <a:rPr sz="1100">
                          <a:latin typeface="Calibri"/>
                        </a:rPr>
                        <a:t>B. Upgrade Copilot Studio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latin typeface="Calibri"/>
                        </a:rPr>
                        <a:t>Unlocks all three pillars; supported by Microsoft; reuses M365 footprint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latin typeface="Calibri"/>
                        </a:rPr>
                        <a:t>Licence cost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latin typeface="Calibri"/>
                        </a:rPr>
                        <a:t>Yes — recommended</a:t>
                      </a:r>
                    </a:p>
                  </a:txBody>
                  <a:tcPr/>
                </a:tc>
              </a:tr>
              <a:tr h="1005840">
                <a:tc>
                  <a:txBody>
                    <a:bodyPr wrap="square"/>
                    <a:lstStyle/>
                    <a:p>
                      <a:r>
                        <a:rPr sz="1100">
                          <a:latin typeface="Calibri"/>
                        </a:rPr>
                        <a:t>C. Route AI through Azure OpenAI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latin typeface="Calibri"/>
                        </a:rPr>
                        <a:t>Maximum control; aligns with Azure governance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latin typeface="Calibri"/>
                        </a:rPr>
                        <a:t>Org has no Azure OpenAI deployment today; sizeable setup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latin typeface="Calibri"/>
                        </a:rPr>
                        <a:t>No (today)</a:t>
                      </a:r>
                    </a:p>
                  </a:txBody>
                  <a:tcPr/>
                </a:tc>
              </a:tr>
              <a:tr h="1005840">
                <a:tc>
                  <a:txBody>
                    <a:bodyPr wrap="square"/>
                    <a:lstStyle/>
                    <a:p>
                      <a:r>
                        <a:rPr sz="1100">
                          <a:latin typeface="Calibri"/>
                        </a:rPr>
                        <a:t>D. Defer the initiative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latin typeface="Calibri"/>
                        </a:rPr>
                        <a:t>Zero cost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latin typeface="Calibri"/>
                        </a:rPr>
                        <a:t>Action-item leakage continues; Reporter/Insights value unrealised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latin typeface="Calibri"/>
                        </a:rPr>
                        <a:t>No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274320" y="6400800"/>
            <a:ext cx="1188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95959"/>
                </a:solidFill>
                <a:latin typeface="Calibri"/>
              </a:rPr>
              <a:t>Manco Capture Agent  ·  25 June 2026  ·  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2E7D32"/>
                </a:solidFill>
                <a:latin typeface="Calibri"/>
              </a:rPr>
              <a:t>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>
                <a:latin typeface="Calibri"/>
              </a:rPr>
              <a:t>• Approve the Microsoft Copilot Studio capability upgrade for the environment housing the Manco Capture Agent.</a:t>
            </a:r>
          </a:p>
          <a:p>
            <a:pPr/>
            <a:r>
              <a:rPr sz="1700">
                <a:latin typeface="Calibri"/>
              </a:rPr>
              <a:t>• Ask the Power Platform admin to review the AI Builder Prompts policy and consider enabling it under existing governance.</a:t>
            </a:r>
          </a:p>
          <a:p>
            <a:pPr/>
            <a:r>
              <a:rPr sz="1700">
                <a:latin typeface="Calibri"/>
              </a:rPr>
              <a:t>• Continue Sprint 1 in the meantime using the Topics workaround; migrate to Tools immediately once the upgrade lands (~30 min rework).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62828"/>
                </a:solidFill>
                <a:latin typeface="Calibri"/>
              </a:rPr>
              <a:t>Risks of NOT upgrading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8056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>
                <a:latin typeface="Calibri"/>
              </a:rPr>
              <a:t>• Architectural debt early — Sprint 1 on a fragile foundation we'll rebuild for Sprint 2/3 anyway.</a:t>
            </a:r>
          </a:p>
          <a:p>
            <a:pPr/>
            <a:r>
              <a:rPr sz="1500">
                <a:latin typeface="Calibri"/>
              </a:rPr>
              <a:t>• Sprints 2 &amp; 3 effectively blocked without Knowledge and Agents features.</a:t>
            </a:r>
          </a:p>
          <a:p>
            <a:pPr/>
            <a:r>
              <a:rPr sz="1500">
                <a:latin typeface="Calibri"/>
              </a:rPr>
              <a:t>• Slower delivery — workarounds cost engineering time more than licences cost money.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00800"/>
            <a:ext cx="1188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95959"/>
                </a:solidFill>
                <a:latin typeface="Calibri"/>
              </a:rPr>
              <a:t>Manco Capture Agent  ·  25 June 2026  ·  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F4E79"/>
                </a:solidFill>
                <a:latin typeface="Calibri"/>
              </a:rPr>
              <a:t>Decision asks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188720"/>
          <a:ext cx="112471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6400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Decision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Your answer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100">
                          <a:latin typeface="Calibri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latin typeface="Calibri"/>
                        </a:rPr>
                        <a:t>Approve Copilot Studio capability upgrade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latin typeface="Calibri"/>
                        </a:rPr>
                        <a:t>yes / no / need more info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100">
                          <a:latin typeface="Calibri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latin typeface="Calibri"/>
                        </a:rPr>
                        <a:t>Approve admin policy review on AI Builder Prompts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latin typeface="Calibri"/>
                        </a:rPr>
                        <a:t>yes / no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100">
                          <a:latin typeface="Calibri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latin typeface="Calibri"/>
                        </a:rPr>
                        <a:t>Continue Sprint 1 on workaround in parallel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latin typeface="Calibri"/>
                        </a:rPr>
                        <a:t>yes / no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100">
                          <a:latin typeface="Calibri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latin typeface="Calibri"/>
                        </a:rPr>
                        <a:t>Procurement contact for confirming exact pricing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latin typeface="Calibri"/>
                        </a:rPr>
                        <a:t>_________________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02920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95959"/>
                </a:solidFill>
                <a:latin typeface="Calibri"/>
              </a:rPr>
              <a:t>Build pack and detailed docs: github.com/snerantie/Copilot-Studio  ·  PR #1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00800"/>
            <a:ext cx="1188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95959"/>
                </a:solidFill>
                <a:latin typeface="Calibri"/>
              </a:rPr>
              <a:t>Manco Capture Agent  ·  25 June 2026  ·  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